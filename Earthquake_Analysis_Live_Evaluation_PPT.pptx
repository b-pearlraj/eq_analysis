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EARTHQUAKE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5603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CEB"/>
                </a:solidFill>
              </a:defRPr>
            </a:pPr>
            <a:r>
              <a:t>API Data Collection • Data Cleaning • Feature Engineering • PostgreSQL • SQL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A9A36"/>
                </a:solidFill>
              </a:defRPr>
            </a:pPr>
            <a:r>
              <a:t>Live Project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Presented by Muthuraj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ED2"/>
                </a:solidFill>
              </a:defRPr>
            </a:pPr>
            <a:r>
              <a:t>Python  |  Pandas  |  NumPy  |  SQL  |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What problem am I solving and what is the final outcome?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30906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Raw earthquake records contain many attributes and missing values, making direct analysis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29968"/>
            <a:ext cx="30906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Build an end-to-end workflow to collect, clean, transform, store and analyze earthquake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29968"/>
            <a:ext cx="30906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Generate reusable SQL-based insights on magnitude, depth, location, tsunami activity and yearly trends.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690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2702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USGS API</a:t>
            </a:r>
          </a:p>
        </p:txBody>
      </p:sp>
      <p:sp>
        <p:nvSpPr>
          <p:cNvPr id="19" name="Chevron 18"/>
          <p:cNvSpPr/>
          <p:nvPr/>
        </p:nvSpPr>
        <p:spPr>
          <a:xfrm>
            <a:off x="2203703" y="436168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04288" y="40690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2702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Python / Pandas</a:t>
            </a:r>
          </a:p>
        </p:txBody>
      </p:sp>
      <p:sp>
        <p:nvSpPr>
          <p:cNvPr id="22" name="Chevron 21"/>
          <p:cNvSpPr/>
          <p:nvPr/>
        </p:nvSpPr>
        <p:spPr>
          <a:xfrm>
            <a:off x="3913631" y="436168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14216" y="40690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2702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Cleaning</a:t>
            </a:r>
          </a:p>
        </p:txBody>
      </p:sp>
      <p:sp>
        <p:nvSpPr>
          <p:cNvPr id="25" name="Chevron 24"/>
          <p:cNvSpPr/>
          <p:nvPr/>
        </p:nvSpPr>
        <p:spPr>
          <a:xfrm>
            <a:off x="5623560" y="436168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24144" y="40690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42702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Feature Engineering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7333488" y="436168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34072" y="40690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7224" y="42702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PostgreSQL</a:t>
            </a:r>
          </a:p>
        </p:txBody>
      </p:sp>
      <p:sp>
        <p:nvSpPr>
          <p:cNvPr id="31" name="Chevron 30"/>
          <p:cNvSpPr/>
          <p:nvPr/>
        </p:nvSpPr>
        <p:spPr>
          <a:xfrm>
            <a:off x="9043416" y="436168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0" y="40690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7152" y="42702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SQL Insights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Dataset &amp;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Programmatic collection using the USGS Earthquake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3317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35607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765AB"/>
                </a:solidFill>
              </a:defRPr>
            </a:pPr>
            <a:r>
              <a:t>113,443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Records collected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325880"/>
            <a:ext cx="23317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435607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8C8C"/>
                </a:solidFill>
              </a:defRPr>
            </a:pPr>
            <a: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98424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Original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325880"/>
            <a:ext cx="23317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35607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A9A36"/>
                </a:solidFill>
              </a:defRPr>
            </a:pPr>
            <a:r>
              <a:t>3+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8424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Minimum magnitude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325880"/>
            <a:ext cx="23317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35607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58558"/>
                </a:solidFill>
              </a:defRPr>
            </a:pPr>
            <a:r>
              <a:t>2021–2026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8424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Available time span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8036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A32"/>
                </a:solidFill>
              </a:defRPr>
            </a:pPr>
            <a:r>
              <a:t>Used Python Requests to call the USGS earthquake endpoint.</a:t>
            </a:r>
          </a:p>
          <a:p>
            <a:pPr>
              <a:spcAft>
                <a:spcPts val="900"/>
              </a:spcAft>
              <a:defRPr sz="1600" b="0">
                <a:solidFill>
                  <a:srgbClr val="232A32"/>
                </a:solidFill>
              </a:defRPr>
            </a:pPr>
            <a:r>
              <a:t>Collected data month-by-month to build the dataset programmatically.</a:t>
            </a:r>
          </a:p>
          <a:p>
            <a:pPr>
              <a:spcAft>
                <a:spcPts val="900"/>
              </a:spcAft>
              <a:defRPr sz="1600" b="0">
                <a:solidFill>
                  <a:srgbClr val="232A32"/>
                </a:solidFill>
              </a:defRPr>
            </a:pPr>
            <a:r>
              <a:t>Extracted time, latitude, longitude, depth, magnitude, place, tsunami and other attributes.</a:t>
            </a:r>
          </a:p>
          <a:p>
            <a:pPr>
              <a:spcAft>
                <a:spcPts val="900"/>
              </a:spcAft>
              <a:defRPr sz="1600" b="0">
                <a:solidFill>
                  <a:srgbClr val="232A32"/>
                </a:solidFill>
              </a:defRPr>
            </a:pPr>
            <a:r>
              <a:t>Converted API records into a Pandas DataFrame for preprocessing.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Data Quality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Prepare the raw data before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1. Missing-value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30906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Used isna().sum() to identify missing observations across numerical and categorical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828800"/>
          </a:xfrm>
          <a:prstGeom prst="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2. Numeric treatment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38528"/>
            <a:ext cx="30906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Relevant numerical columns were converted to numeric types and missing numerical values were treated using median imputation.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3. Text standardization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38528"/>
            <a:ext cx="30906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Standardized selected string columns using lower-case conversion and trimming.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A32"/>
                </a:solidFill>
              </a:defRPr>
            </a:pPr>
            <a:r>
              <a:t>Examples of columns with missing values: mmi, felt, cdi, nst, dmin, rms and gap.</a:t>
            </a:r>
          </a:p>
          <a:p>
            <a:pPr>
              <a:spcAft>
                <a:spcPts val="900"/>
              </a:spcAft>
              <a:defRPr sz="1600" b="0">
                <a:solidFill>
                  <a:srgbClr val="232A32"/>
                </a:solidFill>
              </a:defRPr>
            </a:pPr>
            <a:r>
              <a:t>Median was selected for numerical imputation because it is less sensitive to extreme values than the mean.</a:t>
            </a:r>
          </a:p>
          <a:p>
            <a:pPr>
              <a:spcAft>
                <a:spcPts val="900"/>
              </a:spcAft>
              <a:defRPr sz="1600" b="0">
                <a:solidFill>
                  <a:srgbClr val="232A32"/>
                </a:solidFill>
              </a:defRPr>
            </a:pPr>
            <a:r>
              <a:t>The goal was to preserve records while improving consistency for downstream analysis.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Convert raw fields into analysis-ready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55448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990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Country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47088"/>
            <a:ext cx="3090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Extracted a country/region field from the raw place description using a regular expression.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554480"/>
          </a:xfrm>
          <a:prstGeom prst="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990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Date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47088"/>
            <a:ext cx="3090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Created year, month, day and day_of_week from the earthquake timestamp.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747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554480"/>
          </a:xfrm>
          <a:prstGeom prst="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990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Depth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47088"/>
            <a:ext cx="3090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Classified depth below 70 km as shallow and the remaining records as deep.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54680"/>
            <a:ext cx="530352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54680"/>
            <a:ext cx="73152" cy="1645920"/>
          </a:xfrm>
          <a:prstGeom prst="rect">
            <a:avLst/>
          </a:prstGeom>
          <a:solidFill>
            <a:srgbClr val="358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31927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Magnitude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767328"/>
            <a:ext cx="491947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Created a project-specific strong/destructive flag using magnitude thresholds.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54680"/>
            <a:ext cx="530352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154680"/>
            <a:ext cx="73152" cy="164592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31927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767328"/>
            <a:ext cx="491947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These features make country-wise, time-based, depth-based and high-magnitude analysis easier.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Before vs After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How the dataset becomes more useful for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834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2704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765AB"/>
                </a:solidFill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Original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17320"/>
            <a:ext cx="2834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52704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8C8C"/>
                </a:solidFill>
              </a:defRPr>
            </a:pPr>
            <a:r>
              <a:t>+7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756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Key analytical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17320"/>
            <a:ext cx="2834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52704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A9A36"/>
                </a:solidFill>
              </a:defRPr>
            </a:pPr>
            <a:r>
              <a:t>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756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Columns after transformation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3756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53872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Raw API Data</a:t>
            </a:r>
          </a:p>
        </p:txBody>
      </p:sp>
      <p:sp>
        <p:nvSpPr>
          <p:cNvPr id="16" name="Chevron 15"/>
          <p:cNvSpPr/>
          <p:nvPr/>
        </p:nvSpPr>
        <p:spPr>
          <a:xfrm>
            <a:off x="2203703" y="363016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04288" y="333756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353872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Clean Types</a:t>
            </a:r>
          </a:p>
        </p:txBody>
      </p:sp>
      <p:sp>
        <p:nvSpPr>
          <p:cNvPr id="19" name="Chevron 18"/>
          <p:cNvSpPr/>
          <p:nvPr/>
        </p:nvSpPr>
        <p:spPr>
          <a:xfrm>
            <a:off x="3913631" y="363016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14216" y="333756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53872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Handle Missing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5623560" y="363016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24144" y="333756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97296" y="353872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Add Country</a:t>
            </a:r>
          </a:p>
        </p:txBody>
      </p:sp>
      <p:sp>
        <p:nvSpPr>
          <p:cNvPr id="25" name="Chevron 24"/>
          <p:cNvSpPr/>
          <p:nvPr/>
        </p:nvSpPr>
        <p:spPr>
          <a:xfrm>
            <a:off x="7333488" y="363016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34072" y="333756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353872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Add Date Features</a:t>
            </a:r>
          </a:p>
        </p:txBody>
      </p:sp>
      <p:sp>
        <p:nvSpPr>
          <p:cNvPr id="28" name="Chevron 27"/>
          <p:cNvSpPr/>
          <p:nvPr/>
        </p:nvSpPr>
        <p:spPr>
          <a:xfrm>
            <a:off x="9043416" y="363016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0" y="333756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7152" y="353872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Add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A32"/>
                </a:solidFill>
              </a:defRPr>
            </a:pPr>
            <a:r>
              <a:t>Key added fields: country, year, month, day, day_of_week, depth_category and strong_destructive_flag.</a:t>
            </a:r>
          </a:p>
          <a:p>
            <a:pPr>
              <a:spcAft>
                <a:spcPts val="900"/>
              </a:spcAft>
              <a:defRPr sz="1500" b="0">
                <a:solidFill>
                  <a:srgbClr val="232A32"/>
                </a:solidFill>
              </a:defRPr>
            </a:pPr>
            <a:r>
              <a:t>The same earthquake records become easier to group, filter, aggregate and query.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PostgreSQL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Move from preprocessing to database-driven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02996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Clean DataFrame</a:t>
            </a:r>
          </a:p>
        </p:txBody>
      </p:sp>
      <p:sp>
        <p:nvSpPr>
          <p:cNvPr id="7" name="Chevron 6"/>
          <p:cNvSpPr/>
          <p:nvPr/>
        </p:nvSpPr>
        <p:spPr>
          <a:xfrm>
            <a:off x="2203703" y="212140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04288" y="182880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02996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CSV</a:t>
            </a:r>
          </a:p>
        </p:txBody>
      </p:sp>
      <p:sp>
        <p:nvSpPr>
          <p:cNvPr id="10" name="Chevron 9"/>
          <p:cNvSpPr/>
          <p:nvPr/>
        </p:nvSpPr>
        <p:spPr>
          <a:xfrm>
            <a:off x="3913631" y="212140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14216" y="182880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202996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PostgreSQL</a:t>
            </a:r>
          </a:p>
        </p:txBody>
      </p:sp>
      <p:sp>
        <p:nvSpPr>
          <p:cNvPr id="13" name="Chevron 12"/>
          <p:cNvSpPr/>
          <p:nvPr/>
        </p:nvSpPr>
        <p:spPr>
          <a:xfrm>
            <a:off x="5623560" y="212140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24144" y="182880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202996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earthquakes table</a:t>
            </a:r>
          </a:p>
        </p:txBody>
      </p:sp>
      <p:sp>
        <p:nvSpPr>
          <p:cNvPr id="16" name="Chevron 15"/>
          <p:cNvSpPr/>
          <p:nvPr/>
        </p:nvSpPr>
        <p:spPr>
          <a:xfrm>
            <a:off x="7333488" y="212140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34072" y="182880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7224" y="202996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SQL Queries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3756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37560"/>
            <a:ext cx="73152" cy="150876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5021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950208"/>
            <a:ext cx="299923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Used SQLAlchemy with a PostgreSQL driver to establish the database connection.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33756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337560"/>
            <a:ext cx="73152" cy="1508760"/>
          </a:xfrm>
          <a:prstGeom prst="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5021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950208"/>
            <a:ext cx="299923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Loaded the processed earthquake DataFrame into the earthquakes table.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33756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3337560"/>
            <a:ext cx="73152" cy="1508760"/>
          </a:xfrm>
          <a:prstGeom prst="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35021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Why database?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3950208"/>
            <a:ext cx="299923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Structured storage enables reusable filtering, grouping, aggregation and ranking through SQL.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SQL Analysis — Key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Use SQL to turn the database into measurable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960120" cy="685800"/>
          </a:xfrm>
          <a:prstGeom prst="round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39903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32137"/>
                </a:solidFill>
              </a:defRPr>
            </a:pPr>
            <a:r>
              <a:t>What are the highest-magnitude earthquakes?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960120" cy="685800"/>
          </a:xfrm>
          <a:prstGeom prst="round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54203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32137"/>
                </a:solidFill>
              </a:defRPr>
            </a:pPr>
            <a:r>
              <a:t>Which earthquakes are the deepest?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11880"/>
            <a:ext cx="960120" cy="685800"/>
          </a:xfrm>
          <a:prstGeom prst="round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68503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32137"/>
                </a:solidFill>
              </a:defRPr>
            </a:pPr>
            <a:r>
              <a:t>How do tsunami-associated events vary by year?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960120" cy="685800"/>
          </a:xfrm>
          <a:prstGeom prst="roundRect">
            <a:avLst/>
          </a:prstGeom>
          <a:solidFill>
            <a:srgbClr val="358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1032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82803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32137"/>
                </a:solidFill>
              </a:defRPr>
            </a:pPr>
            <a:r>
              <a:t>How do shallow and deep earthquakes compare by country?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Key Insight 1 — Magnitude &amp;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Extreme events identified through SQL 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31089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35607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A9A36"/>
                </a:solidFill>
              </a:defRPr>
            </a:pPr>
            <a:r>
              <a:t>8.8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842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Maximum magnitude in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1089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35607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765AB"/>
                </a:solidFill>
              </a:defRPr>
            </a:pPr>
            <a:r>
              <a:t>683.578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Maximum recorded depth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1089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435607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8C8C"/>
                </a:solidFill>
              </a:defRPr>
            </a:pPr>
            <a:r>
              <a:t>4.256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842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E7D"/>
                </a:solidFill>
              </a:defRPr>
            </a:pPr>
            <a:r>
              <a:t>Average magnitude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63240"/>
            <a:ext cx="103327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063240"/>
            <a:ext cx="73152" cy="155448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22783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675888"/>
            <a:ext cx="9948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The dataset contains a wide range of earthquake magnitudes and depths. Ranking by magnitude and depth makes extreme events easy to identify for further investigation.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92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32A32"/>
                </a:solidFill>
              </a:defRPr>
            </a:pPr>
            <a:r>
              <a:t>Top-magnitude analysis uses ORDER BY mag DESC with a limit.</a:t>
            </a:r>
          </a:p>
          <a:p>
            <a:pPr>
              <a:spcAft>
                <a:spcPts val="900"/>
              </a:spcAft>
              <a:defRPr sz="1400" b="0">
                <a:solidFill>
                  <a:srgbClr val="232A32"/>
                </a:solidFill>
              </a:defRPr>
            </a:pPr>
            <a:r>
              <a:t>Deepest-earthquake analysis uses ORDER BY depth_km DESC.</a:t>
            </a:r>
          </a:p>
          <a:p>
            <a:pPr>
              <a:spcAft>
                <a:spcPts val="900"/>
              </a:spcAft>
              <a:defRPr sz="1400" b="0">
                <a:solidFill>
                  <a:srgbClr val="232A32"/>
                </a:solidFill>
              </a:defRPr>
            </a:pPr>
            <a:r>
              <a:t>These queries demonstrate practical SQL sorting and ranking.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Key Insight 2 — Tsunami &amp; Yearly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Group, aggregate and compare earthquake activity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1920240" cy="566928"/>
          </a:xfrm>
          <a:prstGeom prst="rect">
            <a:avLst/>
          </a:prstGeom>
          <a:solidFill>
            <a:srgbClr val="1321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435607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325880"/>
            <a:ext cx="2011680" cy="566928"/>
          </a:xfrm>
          <a:prstGeom prst="rect">
            <a:avLst/>
          </a:prstGeom>
          <a:solidFill>
            <a:srgbClr val="1321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1435607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Tsunami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92807"/>
            <a:ext cx="192024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02536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2021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892807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2002536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114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59736"/>
            <a:ext cx="192024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569464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2022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459736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2569464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136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026663"/>
            <a:ext cx="192024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136391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2023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026663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3136391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119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93591"/>
            <a:ext cx="192024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703320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593591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7792" y="3703320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114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160520"/>
            <a:ext cx="192024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270248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4160520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4270248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142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27448"/>
            <a:ext cx="192024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837176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2026*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4727448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2" y="4837176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32A32"/>
                </a:solidFill>
              </a:defRPr>
            </a:pPr>
            <a:r>
              <a:t>34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0" y="1325880"/>
            <a:ext cx="54864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0" y="1325880"/>
            <a:ext cx="73152" cy="1417320"/>
          </a:xfrm>
          <a:prstGeom prst="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4688" y="1490472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Main finding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4688" y="1938528"/>
            <a:ext cx="51023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2025 has the highest tsunami-associated earthquake count among the yearly results shown, with 142 events.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0" y="3063240"/>
            <a:ext cx="54864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03520" y="3063240"/>
            <a:ext cx="73152" cy="1234440"/>
          </a:xfrm>
          <a:prstGeom prst="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04688" y="3227832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SQL concepts used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3675888"/>
            <a:ext cx="51023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GROUP BY year • WHERE tsunami = 1 • COUNT(*) • ORDER BY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0" y="4572000"/>
            <a:ext cx="54864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03520" y="4572000"/>
            <a:ext cx="73152" cy="118872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04688" y="4736592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Important 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5184648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2026 is a partial-year result in the dataset, so its count should not be compared directly with complete-year totals without context.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Key Insight 3 — Shallow vs Deep by Country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Conditional aggregation in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365760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325880"/>
            <a:ext cx="73152" cy="196596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490472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Example: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938528"/>
            <a:ext cx="327355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Shallow earthquakes: 4,132</a:t>
            </a:r>
            <a:br/>
            <a:r>
              <a:t>Deep earthquakes: 127</a:t>
            </a:r>
            <a:br/>
            <a:r>
              <a:t>Shallow/Deep ratio: 32.54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325880"/>
            <a:ext cx="315468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325880"/>
            <a:ext cx="73152" cy="1965960"/>
          </a:xfrm>
          <a:prstGeom prst="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149047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How it was calculated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1938528"/>
            <a:ext cx="27706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SUM(CASE WHEN depth_km &lt; 70 THEN 1 ELSE 0 END)</a:t>
            </a:r>
            <a:br/>
            <a:br/>
            <a:r>
              <a:t>SUM(CASE WHEN depth_km &gt; 300 THEN 1 ELSE 0 END)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15468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965960"/>
          </a:xfrm>
          <a:prstGeom prst="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38528"/>
            <a:ext cx="27706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The query converts a continuous depth measure into comparable country-level counts and a ratio.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A32"/>
                </a:solidFill>
              </a:defRPr>
            </a:pPr>
            <a:r>
              <a:t>GROUP BY country creates country-level summaries.</a:t>
            </a:r>
          </a:p>
          <a:p>
            <a:pPr>
              <a:spcAft>
                <a:spcPts val="900"/>
              </a:spcAft>
              <a:defRPr sz="1500" b="0">
                <a:solidFill>
                  <a:srgbClr val="232A32"/>
                </a:solidFill>
              </a:defRPr>
            </a:pPr>
            <a:r>
              <a:t>HAVING ensures countries with at least one deep event are retained.</a:t>
            </a:r>
          </a:p>
          <a:p>
            <a:pPr>
              <a:spcAft>
                <a:spcPts val="900"/>
              </a:spcAft>
              <a:defRPr sz="1500" b="0">
                <a:solidFill>
                  <a:srgbClr val="232A32"/>
                </a:solidFill>
              </a:defRPr>
            </a:pPr>
            <a:r>
              <a:t>NULLIF helps avoid division-by-zero when calculating the ratio.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Dashboard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From analysis notebook to an interactive presentation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73736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Streamlit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The project notebook includes setup for an "Earthquake Data Analysis Dashboard" using Streamlit.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737360"/>
          </a:xfrm>
          <a:prstGeom prst="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Database-backed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The dashboard can read analytical results from PostgreSQL rather than relying only on local notebook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2900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1737360"/>
          </a:xfrm>
          <a:prstGeom prst="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Presentation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Make technical analysis easier for a non-technical user to explore and understand.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404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0416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PostgreSQL</a:t>
            </a:r>
          </a:p>
        </p:txBody>
      </p:sp>
      <p:sp>
        <p:nvSpPr>
          <p:cNvPr id="19" name="Chevron 18"/>
          <p:cNvSpPr/>
          <p:nvPr/>
        </p:nvSpPr>
        <p:spPr>
          <a:xfrm>
            <a:off x="2203703" y="413308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04288" y="38404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0416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SQL</a:t>
            </a:r>
          </a:p>
        </p:txBody>
      </p:sp>
      <p:sp>
        <p:nvSpPr>
          <p:cNvPr id="22" name="Chevron 21"/>
          <p:cNvSpPr/>
          <p:nvPr/>
        </p:nvSpPr>
        <p:spPr>
          <a:xfrm>
            <a:off x="3913631" y="413308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14216" y="38404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0416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Pandas</a:t>
            </a:r>
          </a:p>
        </p:txBody>
      </p:sp>
      <p:sp>
        <p:nvSpPr>
          <p:cNvPr id="25" name="Chevron 24"/>
          <p:cNvSpPr/>
          <p:nvPr/>
        </p:nvSpPr>
        <p:spPr>
          <a:xfrm>
            <a:off x="5623560" y="413308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24144" y="38404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40416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Streamlit</a:t>
            </a:r>
          </a:p>
        </p:txBody>
      </p:sp>
      <p:sp>
        <p:nvSpPr>
          <p:cNvPr id="28" name="Chevron 27"/>
          <p:cNvSpPr/>
          <p:nvPr/>
        </p:nvSpPr>
        <p:spPr>
          <a:xfrm>
            <a:off x="7333488" y="4133088"/>
            <a:ext cx="91440" cy="320040"/>
          </a:xfrm>
          <a:prstGeom prst="chevron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34072" y="3840480"/>
            <a:ext cx="16002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7224" y="4041648"/>
            <a:ext cx="1453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32137"/>
                </a:solidFill>
              </a:defRPr>
            </a:pPr>
            <a:r>
              <a:t>Interactive Insights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137"/>
                </a:solidFill>
              </a:defRPr>
            </a:pPr>
            <a:r>
              <a:t>Project Evaluation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E7D"/>
                </a:solidFill>
              </a:defRPr>
            </a:pPr>
            <a:r>
              <a:t>How this project addresses the 60-mark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Code Quality / Data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48737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API → cleaning → feature engineering →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5257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73152" cy="1325880"/>
          </a:xfrm>
          <a:prstGeom prst="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39903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847088"/>
            <a:ext cx="48737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Project flow, dataset source, transformations, SQL analysis and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5257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34640"/>
            <a:ext cx="73152" cy="1325880"/>
          </a:xfrm>
          <a:prstGeom prst="rect">
            <a:avLst/>
          </a:prstGeom>
          <a:solidFill>
            <a:srgbClr val="EA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99923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Reusability / DAX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47288"/>
            <a:ext cx="48737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Logical stages can be modularized into reusable functions/modules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34640"/>
            <a:ext cx="5257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834640"/>
            <a:ext cx="73152" cy="1325880"/>
          </a:xfrm>
          <a:prstGeom prst="rect">
            <a:avLst/>
          </a:prstGeom>
          <a:solidFill>
            <a:srgbClr val="358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99923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447288"/>
            <a:ext cx="48737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Clear problem → process → analysis → insight 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34840"/>
            <a:ext cx="5257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434840"/>
            <a:ext cx="73152" cy="1325880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599431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Task Accomplishment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47488"/>
            <a:ext cx="48737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Complete pipeline from collection to SQL-based insights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434840"/>
            <a:ext cx="5257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434840"/>
            <a:ext cx="73152" cy="1325880"/>
          </a:xfrm>
          <a:prstGeom prst="rect">
            <a:avLst/>
          </a:prstGeom>
          <a:solidFill>
            <a:srgbClr val="2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599431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137"/>
                </a:solidFill>
              </a:defRPr>
            </a:pPr>
            <a:r>
              <a:t>Mock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5047488"/>
            <a:ext cx="48737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</a:defRPr>
            </a:pPr>
            <a:r>
              <a:t>Python • Pandas • NumPy • SQL • PostgreSQL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E7D"/>
                </a:solidFill>
              </a:defRPr>
            </a:pPr>
            <a:r>
              <a:t>Earthquake Analysis  |  Live Project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E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8EFF6"/>
                </a:solidFill>
              </a:defRPr>
            </a:pPr>
            <a:r>
              <a:t>Built an end-to-end earthquake data analysis workflow.</a:t>
            </a:r>
          </a:p>
          <a:p>
            <a:pPr>
              <a:spcAft>
                <a:spcPts val="900"/>
              </a:spcAft>
              <a:defRPr sz="1800" b="0">
                <a:solidFill>
                  <a:srgbClr val="E8EFF6"/>
                </a:solidFill>
              </a:defRPr>
            </a:pPr>
            <a:r>
              <a:t>Collected 113,443 records through the USGS API and created an analysis-ready dataset.</a:t>
            </a:r>
          </a:p>
          <a:p>
            <a:pPr>
              <a:spcAft>
                <a:spcPts val="900"/>
              </a:spcAft>
              <a:defRPr sz="1800" b="0">
                <a:solidFill>
                  <a:srgbClr val="E8EFF6"/>
                </a:solidFill>
              </a:defRPr>
            </a:pPr>
            <a:r>
              <a:t>Applied data cleaning and feature engineering using Python, Pandas and NumPy.</a:t>
            </a:r>
          </a:p>
          <a:p>
            <a:pPr>
              <a:spcAft>
                <a:spcPts val="900"/>
              </a:spcAft>
              <a:defRPr sz="1800" b="0">
                <a:solidFill>
                  <a:srgbClr val="E8EFF6"/>
                </a:solidFill>
              </a:defRPr>
            </a:pPr>
            <a:r>
              <a:t>Stored the processed data in PostgreSQL and used SQL for analytical questions.</a:t>
            </a:r>
          </a:p>
          <a:p>
            <a:pPr>
              <a:spcAft>
                <a:spcPts val="900"/>
              </a:spcAft>
              <a:defRPr sz="1800" b="0">
                <a:solidFill>
                  <a:srgbClr val="E8EFF6"/>
                </a:solidFill>
              </a:defRPr>
            </a:pPr>
            <a:r>
              <a:t>Identified useful patterns related to magnitude, depth, tsunami activity and country-level earthquake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235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A9A36"/>
                </a:solidFill>
              </a:defRPr>
            </a:pPr>
            <a:r>
              <a:t>Thank you — I am ready for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